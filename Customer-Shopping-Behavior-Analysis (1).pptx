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ora"/>
      <p:regular r:id="rId17"/>
    </p:embeddedFont>
    <p:embeddedFont>
      <p:font typeface="Lora"/>
      <p:regular r:id="rId18"/>
    </p:embeddedFont>
    <p:embeddedFont>
      <p:font typeface="Lora"/>
      <p:regular r:id="rId19"/>
    </p:embeddedFont>
    <p:embeddedFont>
      <p:font typeface="Lora"/>
      <p:regular r:id="rId20"/>
    </p:embeddedFont>
    <p:embeddedFont>
      <p:font typeface="Source Sans 3"/>
      <p:regular r:id="rId21"/>
    </p:embeddedFont>
    <p:embeddedFont>
      <p:font typeface="Source Sans 3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66047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764854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Uncovering spending patterns, customer segments, product preferences, and subscription behavior from </a:t>
            </a:r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3,900 transactions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guide strategic business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21916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735931"/>
            <a:ext cx="2574280" cy="493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3,900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930622" y="241652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23577" y="2726234"/>
            <a:ext cx="25742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purchases analyzed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84860" y="1735931"/>
            <a:ext cx="2574280" cy="493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18</a:t>
            </a:r>
            <a:endParaRPr lang="en-US" sz="3850" dirty="0"/>
          </a:p>
        </p:txBody>
      </p:sp>
      <p:sp>
        <p:nvSpPr>
          <p:cNvPr id="7" name="Text 5"/>
          <p:cNvSpPr/>
          <p:nvPr/>
        </p:nvSpPr>
        <p:spPr>
          <a:xfrm>
            <a:off x="3691905" y="241652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Columns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84860" y="2726234"/>
            <a:ext cx="25742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Features per record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46143" y="1735931"/>
            <a:ext cx="2574280" cy="493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850"/>
              </a:lnSpc>
              <a:buNone/>
            </a:pPr>
            <a:r>
              <a:rPr lang="en-US" sz="3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37</a:t>
            </a:r>
            <a:endParaRPr lang="en-US" sz="3850" dirty="0"/>
          </a:p>
        </p:txBody>
      </p:sp>
      <p:sp>
        <p:nvSpPr>
          <p:cNvPr id="10" name="Text 8"/>
          <p:cNvSpPr/>
          <p:nvPr/>
        </p:nvSpPr>
        <p:spPr>
          <a:xfrm>
            <a:off x="6453188" y="2416522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6143" y="2726234"/>
            <a:ext cx="257428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 Review Rating column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3577" y="3133874"/>
            <a:ext cx="2599209" cy="1087636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13" name="Text 11"/>
          <p:cNvSpPr/>
          <p:nvPr/>
        </p:nvSpPr>
        <p:spPr>
          <a:xfrm>
            <a:off x="673150" y="328344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3150" y="3593157"/>
            <a:ext cx="23000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Age, Gender, Location, Subscription Status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72358" y="3133874"/>
            <a:ext cx="2599209" cy="1087636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16" name="Text 14"/>
          <p:cNvSpPr/>
          <p:nvPr/>
        </p:nvSpPr>
        <p:spPr>
          <a:xfrm>
            <a:off x="3421931" y="328344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Purchase Details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21931" y="3593157"/>
            <a:ext cx="230006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Item, Category, Amount, Season, Size, Color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21139" y="3133874"/>
            <a:ext cx="2599283" cy="1087636"/>
          </a:xfrm>
          <a:prstGeom prst="roundRect">
            <a:avLst>
              <a:gd name="adj" fmla="val 2063"/>
            </a:avLst>
          </a:prstGeom>
          <a:solidFill>
            <a:srgbClr val="F3E7D4"/>
          </a:solidFill>
          <a:ln/>
        </p:spPr>
      </p:sp>
      <p:sp>
        <p:nvSpPr>
          <p:cNvPr id="19" name="Text 17"/>
          <p:cNvSpPr/>
          <p:nvPr/>
        </p:nvSpPr>
        <p:spPr>
          <a:xfrm>
            <a:off x="6170712" y="328344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Behavior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70712" y="3593157"/>
            <a:ext cx="230013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Discounts, Promo Codes, Frequency, Ratings, Shipping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3611" y="354285"/>
            <a:ext cx="3685208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Preparation in Python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433611" y="872579"/>
            <a:ext cx="247724" cy="154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33611" y="1068809"/>
            <a:ext cx="4847779" cy="14288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6" name="Text 3"/>
          <p:cNvSpPr/>
          <p:nvPr/>
        </p:nvSpPr>
        <p:spPr>
          <a:xfrm>
            <a:off x="433611" y="1159297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Load &amp; Explore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33611" y="1403003"/>
            <a:ext cx="4847779" cy="371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Imported dataset with pandas; used 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structure and summary stats.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33611" y="1970336"/>
            <a:ext cx="247724" cy="154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3611" y="2166565"/>
            <a:ext cx="4847779" cy="14288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0" name="Text 7"/>
          <p:cNvSpPr/>
          <p:nvPr/>
        </p:nvSpPr>
        <p:spPr>
          <a:xfrm>
            <a:off x="433611" y="2257053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Clean &amp; Standardize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3611" y="2500759"/>
            <a:ext cx="484777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Imputed missing Review Ratings using category median; renamed columns to snake_case.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33611" y="2877369"/>
            <a:ext cx="247724" cy="154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3611" y="3073598"/>
            <a:ext cx="4847779" cy="14288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4" name="Text 11"/>
          <p:cNvSpPr/>
          <p:nvPr/>
        </p:nvSpPr>
        <p:spPr>
          <a:xfrm>
            <a:off x="433611" y="3164086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33611" y="3407792"/>
            <a:ext cx="4847779" cy="38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 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columns; dropped redundant 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33611" y="3984650"/>
            <a:ext cx="247724" cy="1548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 Light" pitchFamily="34" charset="0"/>
                <a:ea typeface="Lora Light" pitchFamily="34" charset="-122"/>
                <a:cs typeface="Lora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3611" y="4180880"/>
            <a:ext cx="4847779" cy="14288"/>
          </a:xfrm>
          <a:prstGeom prst="rect">
            <a:avLst/>
          </a:prstGeom>
          <a:solidFill>
            <a:srgbClr val="38512F"/>
          </a:solidFill>
          <a:ln/>
        </p:spPr>
      </p:sp>
      <p:sp>
        <p:nvSpPr>
          <p:cNvPr id="18" name="Text 15"/>
          <p:cNvSpPr/>
          <p:nvPr/>
        </p:nvSpPr>
        <p:spPr>
          <a:xfrm>
            <a:off x="433611" y="4271367"/>
            <a:ext cx="14576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Database Integration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3611" y="4515073"/>
            <a:ext cx="4847779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Loaded cleaned DataFrame into PostgreSQL for SQL analysis.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757" y="355402"/>
            <a:ext cx="447965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SQL Analysis: Revenue &amp; Spending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00757" y="1808708"/>
            <a:ext cx="14025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Gender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0757" y="2078980"/>
            <a:ext cx="3725763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Compared total revenue generated by male vs. female customers to identify high-value segments.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00757" y="2516535"/>
            <a:ext cx="2019672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High-Spending Discount Users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0757" y="2786807"/>
            <a:ext cx="3725763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Identified customers who used discounts yet still spent </a:t>
            </a:r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above the average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purchase amount.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0757" y="3224361"/>
            <a:ext cx="1763018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Shipping Type Comparison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00757" y="3494633"/>
            <a:ext cx="3725763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Compared average purchase amounts between </a:t>
            </a:r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Standard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Express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shipping users.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093" y="955402"/>
            <a:ext cx="3725763" cy="3725763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093" y="955402"/>
            <a:ext cx="3725763" cy="37257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185193"/>
            <a:ext cx="5384229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SQL Analysis: Products &amp; Ratings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924422"/>
            <a:ext cx="2599209" cy="2033885"/>
          </a:xfrm>
          <a:prstGeom prst="roundRect">
            <a:avLst>
              <a:gd name="adj" fmla="val 1103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2627" y="1943472"/>
            <a:ext cx="2561109" cy="448791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5" name="Text 3"/>
          <p:cNvSpPr/>
          <p:nvPr/>
        </p:nvSpPr>
        <p:spPr>
          <a:xfrm>
            <a:off x="1711003" y="2027634"/>
            <a:ext cx="224358" cy="2804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92200" y="2541836"/>
            <a:ext cx="204519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5 Products by Rating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2200" y="2851547"/>
            <a:ext cx="2261964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Identified products with the highest average review ratings across all categories.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72358" y="1924422"/>
            <a:ext cx="2599209" cy="2033885"/>
          </a:xfrm>
          <a:prstGeom prst="roundRect">
            <a:avLst>
              <a:gd name="adj" fmla="val 1103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408" y="1943472"/>
            <a:ext cx="2561109" cy="448791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10" name="Text 8"/>
          <p:cNvSpPr/>
          <p:nvPr/>
        </p:nvSpPr>
        <p:spPr>
          <a:xfrm>
            <a:off x="4459784" y="2027634"/>
            <a:ext cx="224358" cy="2804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440981" y="2541836"/>
            <a:ext cx="226196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Discount-Dependent Products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440981" y="3071515"/>
            <a:ext cx="2261964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Found 5 products with the highest percentage of discounted purchases.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21139" y="1924422"/>
            <a:ext cx="2599283" cy="2033885"/>
          </a:xfrm>
          <a:prstGeom prst="roundRect">
            <a:avLst>
              <a:gd name="adj" fmla="val 1103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40189" y="1943472"/>
            <a:ext cx="2561183" cy="448791"/>
          </a:xfrm>
          <a:prstGeom prst="rect">
            <a:avLst/>
          </a:prstGeom>
          <a:solidFill>
            <a:srgbClr val="F3E7D4"/>
          </a:solidFill>
          <a:ln/>
        </p:spPr>
      </p:sp>
      <p:sp>
        <p:nvSpPr>
          <p:cNvPr id="15" name="Text 13"/>
          <p:cNvSpPr/>
          <p:nvPr/>
        </p:nvSpPr>
        <p:spPr>
          <a:xfrm>
            <a:off x="7208565" y="2027634"/>
            <a:ext cx="224358" cy="2804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6189762" y="2541836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3 per Category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89762" y="2851547"/>
            <a:ext cx="226203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Listed the most purchased products within each product category.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757" y="355402"/>
            <a:ext cx="4985072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SQL Analysis: Customer Segmentation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757" y="955402"/>
            <a:ext cx="3725763" cy="372576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757" y="955402"/>
            <a:ext cx="3725763" cy="37257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22093" y="1808708"/>
            <a:ext cx="1484561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Segment Classification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722093" y="2078980"/>
            <a:ext cx="3725763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Customers classified as </a:t>
            </a:r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New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Returning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or </a:t>
            </a:r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Loyal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based on purchase history.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4722093" y="2516535"/>
            <a:ext cx="1992362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Repeat Buyers &amp; Subscriptions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722093" y="2786807"/>
            <a:ext cx="3725763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Customers with </a:t>
            </a:r>
            <a:pPr algn="l"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more than 5 purchases</a:t>
            </a:r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were found to be more likely to subscribe.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722093" y="3224361"/>
            <a:ext cx="1474738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Age Group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722093" y="3494633"/>
            <a:ext cx="3725763" cy="342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Calculated total revenue contribution of each age group to identify high-value demographics.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69032"/>
            <a:ext cx="5313834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363414"/>
            <a:ext cx="5135166" cy="3081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8432" y="128297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8432" y="1652513"/>
            <a:ext cx="259667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Subscribers show higher average spend and greater total revenue contribution compared to non-subscribers.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028432" y="2538933"/>
            <a:ext cx="2596679" cy="1114499"/>
          </a:xfrm>
          <a:prstGeom prst="roundRect">
            <a:avLst>
              <a:gd name="adj" fmla="val 2014"/>
            </a:avLst>
          </a:prstGeom>
          <a:solidFill>
            <a:srgbClr val="B6FCB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004" y="2756892"/>
            <a:ext cx="187003" cy="1495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14579" y="2725862"/>
            <a:ext cx="196095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Customers with </a:t>
            </a:r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5+ purchases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are significantly more likely to hold an active subscription.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028432" y="3821683"/>
            <a:ext cx="259667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signals a strong link between purchase frequency and subscription uptake — a key lever for revenue growth.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880443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BI Dashboard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544812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interactive dashboard was built in </a:t>
            </a:r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Power BI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present all insights visually — enabling stakeholders to explore spending patterns, segment behavior, and product performance at a glance.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02990"/>
            <a:ext cx="455146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442219"/>
            <a:ext cx="374005" cy="3740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200322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2312938"/>
            <a:ext cx="395488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exclusive benefits to convert frequent buyers into subscribers.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5464" y="1442219"/>
            <a:ext cx="374005" cy="3740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5464" y="200322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5464" y="2312938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Reward repeat buyers to move them into the "Loyal" segment.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3090937"/>
            <a:ext cx="374005" cy="3740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3577" y="3651945"/>
            <a:ext cx="189659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23577" y="3961656"/>
            <a:ext cx="395488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 sales boosts with margin control on discount-dependent products.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5464" y="3090937"/>
            <a:ext cx="374005" cy="3740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5464" y="365194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5464" y="3961656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high-revenue age groups and express-shipping users.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01613"/>
            <a:ext cx="35203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Takeaways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740843"/>
            <a:ext cx="3973637" cy="1125736"/>
          </a:xfrm>
          <a:prstGeom prst="roundRect">
            <a:avLst>
              <a:gd name="adj" fmla="val 8123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4527" y="1740843"/>
            <a:ext cx="76200" cy="1125736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5" name="Text 3"/>
          <p:cNvSpPr/>
          <p:nvPr/>
        </p:nvSpPr>
        <p:spPr>
          <a:xfrm>
            <a:off x="749350" y="1909465"/>
            <a:ext cx="198521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Data-Driven Foundation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350" y="2219176"/>
            <a:ext cx="357924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3,900 transactions cleaned and enriched in Python, then analyzed in PostgreSQL for robust insights.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46786" y="1740843"/>
            <a:ext cx="3973637" cy="1125736"/>
          </a:xfrm>
          <a:prstGeom prst="roundRect">
            <a:avLst>
              <a:gd name="adj" fmla="val 8123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27736" y="1740843"/>
            <a:ext cx="76200" cy="1125736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9" name="Text 7"/>
          <p:cNvSpPr/>
          <p:nvPr/>
        </p:nvSpPr>
        <p:spPr>
          <a:xfrm>
            <a:off x="4872558" y="1909465"/>
            <a:ext cx="228443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Subscription = Higher Value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872558" y="2219176"/>
            <a:ext cx="357924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Subscribers and repeat buyers (5+ purchases) consistently outspend non-subscribers.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3577" y="3016151"/>
            <a:ext cx="3973637" cy="1125736"/>
          </a:xfrm>
          <a:prstGeom prst="roundRect">
            <a:avLst>
              <a:gd name="adj" fmla="val 8123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4527" y="3016151"/>
            <a:ext cx="76200" cy="1125736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13" name="Text 11"/>
          <p:cNvSpPr/>
          <p:nvPr/>
        </p:nvSpPr>
        <p:spPr>
          <a:xfrm>
            <a:off x="749350" y="3184773"/>
            <a:ext cx="234114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Product &amp; Discount Strategy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49350" y="3494484"/>
            <a:ext cx="357924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Top-rated products and discount-heavy items need distinct positioning and pricing strategies.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46786" y="3016151"/>
            <a:ext cx="3973637" cy="1125736"/>
          </a:xfrm>
          <a:prstGeom prst="roundRect">
            <a:avLst>
              <a:gd name="adj" fmla="val 8123"/>
            </a:avLst>
          </a:prstGeom>
          <a:solidFill>
            <a:srgbClr val="FEF5E7"/>
          </a:solidFill>
          <a:ln w="19050">
            <a:solidFill>
              <a:srgbClr val="D9CD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7736" y="3016151"/>
            <a:ext cx="76200" cy="1125736"/>
          </a:xfrm>
          <a:prstGeom prst="roundRect">
            <a:avLst>
              <a:gd name="adj" fmla="val 29451"/>
            </a:avLst>
          </a:prstGeom>
          <a:solidFill>
            <a:srgbClr val="38512F"/>
          </a:solidFill>
          <a:ln/>
        </p:spPr>
      </p:sp>
      <p:sp>
        <p:nvSpPr>
          <p:cNvPr id="17" name="Text 15"/>
          <p:cNvSpPr/>
          <p:nvPr/>
        </p:nvSpPr>
        <p:spPr>
          <a:xfrm>
            <a:off x="4872558" y="318477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Actionable Segments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72558" y="3494484"/>
            <a:ext cx="3579242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New, Returning, and Loyal segments enable precise, high-impact marketing campaigns.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2026-05-06T18:11:39Z</dcterms:created>
  <dcterms:modified xsi:type="dcterms:W3CDTF">2026-05-06T18:11:39Z</dcterms:modified>
</cp:coreProperties>
</file>